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
  </p:notesMasterIdLst>
  <p:sldIdLst>
    <p:sldId id="256" r:id="rId2"/>
    <p:sldId id="257" r:id="rId3"/>
  </p:sldIdLst>
  <p:sldSz cx="9144000" cy="5143500" type="screen16x9"/>
  <p:notesSz cx="6858000" cy="9144000"/>
  <p:embeddedFontLst>
    <p:embeddedFont>
      <p:font typeface="Google Sans" panose="020B0604020202020204" charset="0"/>
      <p:regular r:id="rId5"/>
      <p:bold r:id="rId6"/>
      <p:italic r:id="rId7"/>
      <p:boldItalic r:id="rId8"/>
    </p:embeddedFont>
    <p:embeddedFont>
      <p:font typeface="Roboto" panose="02000000000000000000" pitchFamily="2" charset="0"/>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114" y="10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theme" Target="theme/theme1.xml"/><Relationship Id="rId10" Type="http://schemas.openxmlformats.org/officeDocument/2006/relationships/font" Target="fonts/font6.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9419f719b3_0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9419f719b3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https://www.virustotal.com/gui/url/11c4f346050f46a47ae190d60a4c5b355ccd621fe758d6201009e3a64ecbea17"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www.virustotal.com/gui/ip-address/108.177.96.13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xfrm>
            <a:off x="311700" y="419550"/>
            <a:ext cx="7684800" cy="9285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605"/>
              <a:buNone/>
            </a:pPr>
            <a:r>
              <a:rPr lang="en" sz="1790" b="1" dirty="0">
                <a:solidFill>
                  <a:schemeClr val="dk1"/>
                </a:solidFill>
                <a:latin typeface="Google Sans"/>
                <a:ea typeface="Google Sans"/>
                <a:cs typeface="Google Sans"/>
                <a:sym typeface="Google Sans"/>
              </a:rPr>
              <a:t>Has this file been identified as malicious? Explain why or why not.</a:t>
            </a:r>
            <a:endParaRPr sz="1790" b="1" dirty="0">
              <a:solidFill>
                <a:schemeClr val="dk1"/>
              </a:solidFill>
              <a:latin typeface="Google Sans"/>
              <a:ea typeface="Google Sans"/>
              <a:cs typeface="Google Sans"/>
              <a:sym typeface="Google Sans"/>
            </a:endParaRPr>
          </a:p>
          <a:p>
            <a:pPr marL="0" lvl="0" indent="0" algn="l" rtl="0">
              <a:lnSpc>
                <a:spcPct val="95000"/>
              </a:lnSpc>
              <a:spcBef>
                <a:spcPts val="1200"/>
              </a:spcBef>
              <a:spcAft>
                <a:spcPts val="0"/>
              </a:spcAft>
              <a:buSzPts val="605"/>
              <a:buNone/>
            </a:pPr>
            <a:endParaRPr sz="1790" b="1" dirty="0">
              <a:solidFill>
                <a:schemeClr val="dk1"/>
              </a:solidFill>
              <a:latin typeface="Google Sans"/>
              <a:ea typeface="Google Sans"/>
              <a:cs typeface="Google Sans"/>
              <a:sym typeface="Google Sans"/>
            </a:endParaRPr>
          </a:p>
          <a:p>
            <a:pPr marL="0" lvl="0" indent="0" algn="l" rtl="0">
              <a:lnSpc>
                <a:spcPct val="95000"/>
              </a:lnSpc>
              <a:spcBef>
                <a:spcPts val="1200"/>
              </a:spcBef>
              <a:spcAft>
                <a:spcPts val="1200"/>
              </a:spcAft>
              <a:buSzPts val="605"/>
              <a:buNone/>
            </a:pPr>
            <a:endParaRPr sz="1790" b="1" dirty="0">
              <a:solidFill>
                <a:schemeClr val="dk1"/>
              </a:solidFill>
              <a:latin typeface="Google Sans"/>
              <a:ea typeface="Google Sans"/>
              <a:cs typeface="Google Sans"/>
              <a:sym typeface="Google Sans"/>
            </a:endParaRPr>
          </a:p>
        </p:txBody>
      </p:sp>
      <p:sp>
        <p:nvSpPr>
          <p:cNvPr id="55" name="Google Shape;55;p13"/>
          <p:cNvSpPr txBox="1"/>
          <p:nvPr/>
        </p:nvSpPr>
        <p:spPr>
          <a:xfrm>
            <a:off x="311700" y="1060100"/>
            <a:ext cx="7538700" cy="1477297"/>
          </a:xfrm>
          <a:prstGeom prst="rect">
            <a:avLst/>
          </a:prstGeom>
          <a:noFill/>
          <a:ln>
            <a:noFill/>
          </a:ln>
        </p:spPr>
        <p:txBody>
          <a:bodyPr spcFirstLastPara="1" wrap="square" lIns="91425" tIns="91425" rIns="91425" bIns="91425" anchor="t" anchorCtr="0">
            <a:spAutoFit/>
          </a:bodyPr>
          <a:lstStyle/>
          <a:p>
            <a:pPr lvl="0"/>
            <a:r>
              <a:rPr lang="en" dirty="0">
                <a:solidFill>
                  <a:srgbClr val="434343"/>
                </a:solidFill>
              </a:rPr>
              <a:t>The file bfsvc.exe has been flagged as malicious malware by 56 out of 71 of the security vendors and has a very low commmunity score of -289. Behavioral analisis of similar bfsvc.exe samples in malware analysis sandboxes show clearly malicious actions, such as dropping additional executables, connecting to command and control infrastructure, and spawning command shell processes. These kinds of execution patterns are not normal for legitimate system files and demonstrate real malicious intent.</a:t>
            </a:r>
            <a:endParaRPr dirty="0">
              <a:solidFill>
                <a:srgbClr val="43434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grpSp>
        <p:nvGrpSpPr>
          <p:cNvPr id="60" name="Google Shape;60;p14"/>
          <p:cNvGrpSpPr/>
          <p:nvPr/>
        </p:nvGrpSpPr>
        <p:grpSpPr>
          <a:xfrm>
            <a:off x="52400" y="399200"/>
            <a:ext cx="5417400" cy="4685400"/>
            <a:chOff x="52400" y="399200"/>
            <a:chExt cx="5417400" cy="4685400"/>
          </a:xfrm>
        </p:grpSpPr>
        <p:sp>
          <p:nvSpPr>
            <p:cNvPr id="61" name="Google Shape;61;p14"/>
            <p:cNvSpPr/>
            <p:nvPr/>
          </p:nvSpPr>
          <p:spPr>
            <a:xfrm>
              <a:off x="52400" y="399200"/>
              <a:ext cx="5417400" cy="4685400"/>
            </a:xfrm>
            <a:prstGeom prst="triangle">
              <a:avLst>
                <a:gd name="adj" fmla="val 50000"/>
              </a:avLst>
            </a:prstGeom>
            <a:solidFill>
              <a:schemeClr val="accent1"/>
            </a:solid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 name="Google Shape;62;p14"/>
            <p:cNvCxnSpPr/>
            <p:nvPr/>
          </p:nvCxnSpPr>
          <p:spPr>
            <a:xfrm>
              <a:off x="2174888" y="1426450"/>
              <a:ext cx="1162500" cy="0"/>
            </a:xfrm>
            <a:prstGeom prst="straightConnector1">
              <a:avLst/>
            </a:prstGeom>
            <a:noFill/>
            <a:ln w="28575" cap="flat" cmpd="sng">
              <a:solidFill>
                <a:srgbClr val="FFFFFF"/>
              </a:solidFill>
              <a:prstDash val="solid"/>
              <a:round/>
              <a:headEnd type="none" w="med" len="med"/>
              <a:tailEnd type="none" w="med" len="med"/>
            </a:ln>
          </p:spPr>
        </p:cxnSp>
        <p:cxnSp>
          <p:nvCxnSpPr>
            <p:cNvPr id="63" name="Google Shape;63;p14"/>
            <p:cNvCxnSpPr/>
            <p:nvPr/>
          </p:nvCxnSpPr>
          <p:spPr>
            <a:xfrm>
              <a:off x="1714500" y="2214625"/>
              <a:ext cx="2094000" cy="0"/>
            </a:xfrm>
            <a:prstGeom prst="straightConnector1">
              <a:avLst/>
            </a:prstGeom>
            <a:noFill/>
            <a:ln w="28575" cap="flat" cmpd="sng">
              <a:solidFill>
                <a:srgbClr val="FFFFFF"/>
              </a:solidFill>
              <a:prstDash val="solid"/>
              <a:round/>
              <a:headEnd type="none" w="med" len="med"/>
              <a:tailEnd type="none" w="med" len="med"/>
            </a:ln>
          </p:spPr>
        </p:cxnSp>
        <p:cxnSp>
          <p:nvCxnSpPr>
            <p:cNvPr id="64" name="Google Shape;64;p14"/>
            <p:cNvCxnSpPr/>
            <p:nvPr/>
          </p:nvCxnSpPr>
          <p:spPr>
            <a:xfrm>
              <a:off x="1269525" y="2976625"/>
              <a:ext cx="2970900" cy="0"/>
            </a:xfrm>
            <a:prstGeom prst="straightConnector1">
              <a:avLst/>
            </a:prstGeom>
            <a:noFill/>
            <a:ln w="28575" cap="flat" cmpd="sng">
              <a:solidFill>
                <a:srgbClr val="FFFFFF"/>
              </a:solidFill>
              <a:prstDash val="solid"/>
              <a:round/>
              <a:headEnd type="none" w="med" len="med"/>
              <a:tailEnd type="none" w="med" len="med"/>
            </a:ln>
          </p:spPr>
        </p:cxnSp>
        <p:cxnSp>
          <p:nvCxnSpPr>
            <p:cNvPr id="65" name="Google Shape;65;p14"/>
            <p:cNvCxnSpPr/>
            <p:nvPr/>
          </p:nvCxnSpPr>
          <p:spPr>
            <a:xfrm>
              <a:off x="903063" y="3665615"/>
              <a:ext cx="3729900" cy="0"/>
            </a:xfrm>
            <a:prstGeom prst="straightConnector1">
              <a:avLst/>
            </a:prstGeom>
            <a:noFill/>
            <a:ln w="28575" cap="flat" cmpd="sng">
              <a:solidFill>
                <a:srgbClr val="FFFFFF"/>
              </a:solidFill>
              <a:prstDash val="solid"/>
              <a:round/>
              <a:headEnd type="none" w="med" len="med"/>
              <a:tailEnd type="none" w="med" len="med"/>
            </a:ln>
          </p:spPr>
        </p:cxnSp>
        <p:cxnSp>
          <p:nvCxnSpPr>
            <p:cNvPr id="66" name="Google Shape;66;p14"/>
            <p:cNvCxnSpPr/>
            <p:nvPr/>
          </p:nvCxnSpPr>
          <p:spPr>
            <a:xfrm>
              <a:off x="484250" y="4351425"/>
              <a:ext cx="4541700" cy="0"/>
            </a:xfrm>
            <a:prstGeom prst="straightConnector1">
              <a:avLst/>
            </a:prstGeom>
            <a:noFill/>
            <a:ln w="28575" cap="flat" cmpd="sng">
              <a:solidFill>
                <a:srgbClr val="FFFFFF"/>
              </a:solidFill>
              <a:prstDash val="solid"/>
              <a:round/>
              <a:headEnd type="none" w="med" len="med"/>
              <a:tailEnd type="none" w="med" len="med"/>
            </a:ln>
          </p:spPr>
        </p:cxnSp>
      </p:grpSp>
      <p:sp>
        <p:nvSpPr>
          <p:cNvPr id="67" name="Google Shape;67;p14"/>
          <p:cNvSpPr txBox="1"/>
          <p:nvPr/>
        </p:nvSpPr>
        <p:spPr>
          <a:xfrm>
            <a:off x="2424313" y="863775"/>
            <a:ext cx="8055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TTPs</a:t>
            </a:r>
            <a:endParaRPr sz="1700" b="1">
              <a:solidFill>
                <a:schemeClr val="lt1"/>
              </a:solidFill>
              <a:latin typeface="Google Sans"/>
              <a:ea typeface="Google Sans"/>
              <a:cs typeface="Google Sans"/>
              <a:sym typeface="Google Sans"/>
            </a:endParaRPr>
          </a:p>
        </p:txBody>
      </p:sp>
      <p:sp>
        <p:nvSpPr>
          <p:cNvPr id="68" name="Google Shape;68;p14"/>
          <p:cNvSpPr txBox="1"/>
          <p:nvPr/>
        </p:nvSpPr>
        <p:spPr>
          <a:xfrm>
            <a:off x="2411226" y="1578950"/>
            <a:ext cx="8055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Tools</a:t>
            </a:r>
            <a:endParaRPr sz="1700" b="1">
              <a:solidFill>
                <a:schemeClr val="lt1"/>
              </a:solidFill>
              <a:latin typeface="Google Sans"/>
              <a:ea typeface="Google Sans"/>
              <a:cs typeface="Google Sans"/>
              <a:sym typeface="Google Sans"/>
            </a:endParaRPr>
          </a:p>
        </p:txBody>
      </p:sp>
      <p:sp>
        <p:nvSpPr>
          <p:cNvPr id="69" name="Google Shape;69;p14"/>
          <p:cNvSpPr txBox="1"/>
          <p:nvPr/>
        </p:nvSpPr>
        <p:spPr>
          <a:xfrm>
            <a:off x="1792100" y="2294125"/>
            <a:ext cx="19914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lt1"/>
                </a:solidFill>
                <a:latin typeface="Google Sans"/>
                <a:ea typeface="Google Sans"/>
                <a:cs typeface="Google Sans"/>
                <a:sym typeface="Google Sans"/>
              </a:rPr>
              <a:t>Network/host artifacts</a:t>
            </a:r>
            <a:endParaRPr sz="1700" b="1">
              <a:solidFill>
                <a:schemeClr val="lt1"/>
              </a:solidFill>
              <a:latin typeface="Google Sans"/>
              <a:ea typeface="Google Sans"/>
              <a:cs typeface="Google Sans"/>
              <a:sym typeface="Google Sans"/>
            </a:endParaRPr>
          </a:p>
        </p:txBody>
      </p:sp>
      <p:sp>
        <p:nvSpPr>
          <p:cNvPr id="70" name="Google Shape;70;p14"/>
          <p:cNvSpPr txBox="1"/>
          <p:nvPr/>
        </p:nvSpPr>
        <p:spPr>
          <a:xfrm>
            <a:off x="1978962" y="3118675"/>
            <a:ext cx="2048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Domain names</a:t>
            </a:r>
            <a:endParaRPr sz="1700" b="1">
              <a:solidFill>
                <a:schemeClr val="lt1"/>
              </a:solidFill>
              <a:latin typeface="Google Sans"/>
              <a:ea typeface="Google Sans"/>
              <a:cs typeface="Google Sans"/>
              <a:sym typeface="Google Sans"/>
            </a:endParaRPr>
          </a:p>
        </p:txBody>
      </p:sp>
      <p:sp>
        <p:nvSpPr>
          <p:cNvPr id="71" name="Google Shape;71;p14"/>
          <p:cNvSpPr txBox="1"/>
          <p:nvPr/>
        </p:nvSpPr>
        <p:spPr>
          <a:xfrm>
            <a:off x="1978962" y="3755325"/>
            <a:ext cx="2048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IP addresses</a:t>
            </a:r>
            <a:endParaRPr sz="1700" b="1">
              <a:solidFill>
                <a:schemeClr val="lt1"/>
              </a:solidFill>
              <a:latin typeface="Google Sans"/>
              <a:ea typeface="Google Sans"/>
              <a:cs typeface="Google Sans"/>
              <a:sym typeface="Google Sans"/>
            </a:endParaRPr>
          </a:p>
        </p:txBody>
      </p:sp>
      <p:sp>
        <p:nvSpPr>
          <p:cNvPr id="72" name="Google Shape;72;p14"/>
          <p:cNvSpPr txBox="1"/>
          <p:nvPr/>
        </p:nvSpPr>
        <p:spPr>
          <a:xfrm>
            <a:off x="1978962" y="4457425"/>
            <a:ext cx="2048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Hash values</a:t>
            </a:r>
            <a:endParaRPr sz="1700" b="1">
              <a:solidFill>
                <a:schemeClr val="lt1"/>
              </a:solidFill>
              <a:latin typeface="Google Sans"/>
              <a:ea typeface="Google Sans"/>
              <a:cs typeface="Google Sans"/>
              <a:sym typeface="Google Sans"/>
            </a:endParaRPr>
          </a:p>
        </p:txBody>
      </p:sp>
      <p:cxnSp>
        <p:nvCxnSpPr>
          <p:cNvPr id="73" name="Google Shape;73;p14"/>
          <p:cNvCxnSpPr/>
          <p:nvPr/>
        </p:nvCxnSpPr>
        <p:spPr>
          <a:xfrm>
            <a:off x="3153750" y="1086374"/>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74" name="Google Shape;74;p14"/>
          <p:cNvSpPr/>
          <p:nvPr/>
        </p:nvSpPr>
        <p:spPr>
          <a:xfrm>
            <a:off x="4848450" y="824324"/>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100" dirty="0">
                <a:solidFill>
                  <a:schemeClr val="dk1"/>
                </a:solidFill>
                <a:latin typeface="Google Sans"/>
                <a:ea typeface="Google Sans"/>
                <a:cs typeface="Google Sans"/>
                <a:sym typeface="Google Sans"/>
              </a:rPr>
              <a:t>Command </a:t>
            </a:r>
            <a:r>
              <a:rPr lang="en-US" sz="1100">
                <a:solidFill>
                  <a:schemeClr val="dk1"/>
                </a:solidFill>
                <a:latin typeface="Google Sans"/>
                <a:ea typeface="Google Sans"/>
                <a:cs typeface="Google Sans"/>
                <a:sym typeface="Google Sans"/>
              </a:rPr>
              <a:t>and Control</a:t>
            </a:r>
            <a:endParaRPr sz="1100">
              <a:solidFill>
                <a:schemeClr val="dk1"/>
              </a:solidFill>
              <a:latin typeface="Google Sans"/>
              <a:ea typeface="Google Sans"/>
              <a:cs typeface="Google Sans"/>
              <a:sym typeface="Google Sans"/>
            </a:endParaRPr>
          </a:p>
        </p:txBody>
      </p:sp>
      <p:cxnSp>
        <p:nvCxnSpPr>
          <p:cNvPr id="75" name="Google Shape;75;p14"/>
          <p:cNvCxnSpPr>
            <a:endCxn id="76" idx="1"/>
          </p:cNvCxnSpPr>
          <p:nvPr/>
        </p:nvCxnSpPr>
        <p:spPr>
          <a:xfrm>
            <a:off x="3578825" y="1801549"/>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76" name="Google Shape;76;p14"/>
          <p:cNvSpPr/>
          <p:nvPr/>
        </p:nvSpPr>
        <p:spPr>
          <a:xfrm>
            <a:off x="5273525" y="1539499"/>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100" dirty="0">
                <a:solidFill>
                  <a:schemeClr val="dk1"/>
                </a:solidFill>
                <a:latin typeface="Roboto"/>
                <a:ea typeface="Roboto"/>
                <a:cs typeface="Roboto"/>
                <a:sym typeface="Roboto"/>
              </a:rPr>
              <a:t>Input capture</a:t>
            </a:r>
            <a:endParaRPr sz="1100" dirty="0">
              <a:solidFill>
                <a:schemeClr val="dk1"/>
              </a:solidFill>
              <a:latin typeface="Roboto"/>
              <a:ea typeface="Roboto"/>
              <a:cs typeface="Roboto"/>
              <a:sym typeface="Roboto"/>
            </a:endParaRPr>
          </a:p>
        </p:txBody>
      </p:sp>
      <p:cxnSp>
        <p:nvCxnSpPr>
          <p:cNvPr id="77" name="Google Shape;77;p14"/>
          <p:cNvCxnSpPr>
            <a:endCxn id="78" idx="1"/>
          </p:cNvCxnSpPr>
          <p:nvPr/>
        </p:nvCxnSpPr>
        <p:spPr>
          <a:xfrm>
            <a:off x="3986625" y="2571149"/>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78" name="Google Shape;78;p14"/>
          <p:cNvSpPr/>
          <p:nvPr/>
        </p:nvSpPr>
        <p:spPr>
          <a:xfrm>
            <a:off x="5681325" y="2309099"/>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100" dirty="0">
                <a:solidFill>
                  <a:schemeClr val="dk1"/>
                </a:solidFill>
                <a:latin typeface="Roboto"/>
                <a:ea typeface="Roboto"/>
                <a:cs typeface="Roboto"/>
                <a:sym typeface="Roboto"/>
              </a:rPr>
              <a:t>HTTP Requests</a:t>
            </a:r>
            <a:endParaRPr sz="1100" dirty="0">
              <a:solidFill>
                <a:schemeClr val="dk1"/>
              </a:solidFill>
              <a:latin typeface="Roboto"/>
              <a:ea typeface="Roboto"/>
              <a:cs typeface="Roboto"/>
              <a:sym typeface="Roboto"/>
            </a:endParaRPr>
          </a:p>
        </p:txBody>
      </p:sp>
      <p:cxnSp>
        <p:nvCxnSpPr>
          <p:cNvPr id="79" name="Google Shape;79;p14"/>
          <p:cNvCxnSpPr>
            <a:endCxn id="80" idx="1"/>
          </p:cNvCxnSpPr>
          <p:nvPr/>
        </p:nvCxnSpPr>
        <p:spPr>
          <a:xfrm>
            <a:off x="4426175" y="3274536"/>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80" name="Google Shape;80;p14"/>
          <p:cNvSpPr/>
          <p:nvPr/>
        </p:nvSpPr>
        <p:spPr>
          <a:xfrm>
            <a:off x="6120875" y="3012486"/>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lvl="0" algn="ctr"/>
            <a:r>
              <a:rPr lang="en-US" dirty="0">
                <a:hlinkClick r:id="rId3"/>
              </a:rPr>
              <a:t>http://org.misecure.com/index.html</a:t>
            </a:r>
            <a:endParaRPr sz="1100" dirty="0">
              <a:solidFill>
                <a:schemeClr val="dk1"/>
              </a:solidFill>
              <a:latin typeface="Roboto"/>
              <a:ea typeface="Roboto"/>
              <a:cs typeface="Roboto"/>
              <a:sym typeface="Roboto"/>
            </a:endParaRPr>
          </a:p>
        </p:txBody>
      </p:sp>
      <p:cxnSp>
        <p:nvCxnSpPr>
          <p:cNvPr id="81" name="Google Shape;81;p14"/>
          <p:cNvCxnSpPr>
            <a:endCxn id="82" idx="1"/>
          </p:cNvCxnSpPr>
          <p:nvPr/>
        </p:nvCxnSpPr>
        <p:spPr>
          <a:xfrm>
            <a:off x="4835525" y="3977924"/>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82" name="Google Shape;82;p14"/>
          <p:cNvSpPr/>
          <p:nvPr/>
        </p:nvSpPr>
        <p:spPr>
          <a:xfrm>
            <a:off x="6530225" y="3715874"/>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lvl="0" algn="ctr"/>
            <a:r>
              <a:rPr lang="en-US" dirty="0">
                <a:hlinkClick r:id="rId4"/>
              </a:rPr>
              <a:t>108.177.96.139</a:t>
            </a:r>
            <a:endParaRPr sz="1100" dirty="0">
              <a:solidFill>
                <a:schemeClr val="dk1"/>
              </a:solidFill>
              <a:latin typeface="Roboto"/>
              <a:ea typeface="Roboto"/>
              <a:cs typeface="Roboto"/>
              <a:sym typeface="Roboto"/>
            </a:endParaRPr>
          </a:p>
        </p:txBody>
      </p:sp>
      <p:cxnSp>
        <p:nvCxnSpPr>
          <p:cNvPr id="83" name="Google Shape;83;p14"/>
          <p:cNvCxnSpPr/>
          <p:nvPr/>
        </p:nvCxnSpPr>
        <p:spPr>
          <a:xfrm>
            <a:off x="5211175" y="4680024"/>
            <a:ext cx="16053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84" name="Google Shape;84;p14"/>
          <p:cNvSpPr/>
          <p:nvPr/>
        </p:nvSpPr>
        <p:spPr>
          <a:xfrm>
            <a:off x="6816475" y="4417974"/>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lvl="0" algn="ctr"/>
            <a:r>
              <a:rPr lang="en-US" dirty="0"/>
              <a:t>54e6ea47eb04634d3e87fd7787e2136ccfbcc80ade34f246a12cf93bab527f6b</a:t>
            </a:r>
            <a:endParaRPr sz="1100" dirty="0">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131</Words>
  <Application>Microsoft Office PowerPoint</Application>
  <PresentationFormat>On-screen Show (16:9)</PresentationFormat>
  <Paragraphs>14</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Google Sans</vt:lpstr>
      <vt:lpstr>Arial</vt:lpstr>
      <vt:lpstr>Roboto</vt:lpstr>
      <vt:lpstr>Simple Light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David Alexandru Balog</cp:lastModifiedBy>
  <cp:revision>2</cp:revision>
  <dcterms:modified xsi:type="dcterms:W3CDTF">2026-02-27T01:00:36Z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2026-02-27T00:42:34Z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f0b46eb6-e5a5-4c46-b876-7e679fee48ae</vt:lpwstr>
  </property>
  <property fmtid="{D5CDD505-2E9C-101B-9397-08002B2CF9AE}" pid="8" name="MSIP_Label_5b58b62f-6f94-46bd-8089-18e64b0a9abb_ContentBits">
    <vt:lpwstr>0</vt:lpwstr>
  </property>
  <property fmtid="{D5CDD505-2E9C-101B-9397-08002B2CF9AE}" pid="9" name="MSIP_Label_5b58b62f-6f94-46bd-8089-18e64b0a9abb_Tag">
    <vt:lpwstr>10, 3, 0, 1</vt:lpwstr>
  </property>
</Properties>
</file>