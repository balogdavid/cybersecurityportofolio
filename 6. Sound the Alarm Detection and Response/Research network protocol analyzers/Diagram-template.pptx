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Google Sans" panose="020B0604020202020204" charset="0"/>
      <p:regular r:id="rId4"/>
      <p:bold r:id="rId5"/>
      <p:italic r:id="rId6"/>
      <p:boldItalic r:id="rId7"/>
    </p:embeddedFon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14" y="10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744909" y="70550"/>
            <a:ext cx="5109300" cy="5109300"/>
          </a:xfrm>
          <a:prstGeom prst="ellipse">
            <a:avLst/>
          </a:prstGeom>
          <a:solidFill>
            <a:srgbClr val="E6B8AF">
              <a:alpha val="38750"/>
            </a:srgbClr>
          </a:solidFill>
          <a:ln w="2857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" name="Google Shape;55;p13"/>
          <p:cNvGrpSpPr/>
          <p:nvPr/>
        </p:nvGrpSpPr>
        <p:grpSpPr>
          <a:xfrm>
            <a:off x="116816" y="70594"/>
            <a:ext cx="5109253" cy="5109253"/>
            <a:chOff x="2986712" y="1676962"/>
            <a:chExt cx="1854000" cy="1854000"/>
          </a:xfrm>
        </p:grpSpPr>
        <p:sp>
          <p:nvSpPr>
            <p:cNvPr id="56" name="Google Shape;56;p13"/>
            <p:cNvSpPr/>
            <p:nvPr/>
          </p:nvSpPr>
          <p:spPr>
            <a:xfrm>
              <a:off x="2986712" y="1676962"/>
              <a:ext cx="1854000" cy="1854000"/>
            </a:xfrm>
            <a:prstGeom prst="ellipse">
              <a:avLst/>
            </a:prstGeom>
            <a:solidFill>
              <a:srgbClr val="DEE7F2">
                <a:alpha val="64709"/>
              </a:srgbClr>
            </a:solidFill>
            <a:ln w="28575" cap="flat" cmpd="sng">
              <a:solidFill>
                <a:srgbClr val="A1C3F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3606964" y="1726110"/>
              <a:ext cx="613500" cy="29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700" b="1" dirty="0">
                  <a:solidFill>
                    <a:schemeClr val="dk1"/>
                  </a:solidFill>
                  <a:latin typeface="Google Sans"/>
                  <a:ea typeface="Google Sans"/>
                  <a:cs typeface="Google Sans"/>
                  <a:sym typeface="Google Sans"/>
                </a:rPr>
                <a:t>Wireshark</a:t>
              </a:r>
              <a:endParaRPr sz="1700" b="1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endParaRPr>
            </a:p>
          </p:txBody>
        </p:sp>
      </p:grpSp>
      <p:sp>
        <p:nvSpPr>
          <p:cNvPr id="58" name="Google Shape;58;p13"/>
          <p:cNvSpPr txBox="1"/>
          <p:nvPr/>
        </p:nvSpPr>
        <p:spPr>
          <a:xfrm>
            <a:off x="5805900" y="206050"/>
            <a:ext cx="11625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 dirty="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sz="1700" b="1" dirty="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15150" y="1366575"/>
            <a:ext cx="112020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Similarities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539766" y="1574345"/>
            <a:ext cx="277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1084463" y="1149752"/>
            <a:ext cx="2777700" cy="2909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GUI Based Interface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</a:rPr>
              <a:t>display filters for post-capture, protocol-field-aware filtering during investigation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</a:rPr>
              <a:t>extensive protocol dissectors and can deeply decode application-layer details</a:t>
            </a: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839895" y="1836375"/>
            <a:ext cx="1464212" cy="195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74320" lvl="0" indent="-292100">
              <a:lnSpc>
                <a:spcPct val="115000"/>
              </a:lnSpc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US" sz="1000" dirty="0"/>
              <a:t>capture packets from live interfaces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000"/>
            </a:pPr>
            <a:endParaRPr lang="en-US" sz="1000" dirty="0"/>
          </a:p>
          <a:p>
            <a:pPr marL="274320" lvl="0" indent="-292100">
              <a:lnSpc>
                <a:spcPct val="115000"/>
              </a:lnSpc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US" sz="1000" dirty="0"/>
              <a:t>save/read packet captures as files</a:t>
            </a:r>
            <a:endParaRPr lang="en-US" sz="1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4320" lvl="0" indent="-292100">
              <a:lnSpc>
                <a:spcPct val="115000"/>
              </a:lnSpc>
              <a:buClr>
                <a:schemeClr val="dk1"/>
              </a:buClr>
              <a:buSzPts val="1000"/>
              <a:buFont typeface="Roboto"/>
              <a:buChar char="●"/>
            </a:pPr>
            <a:endParaRPr lang="en-US" sz="1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4320" lvl="0" indent="-292100">
              <a:lnSpc>
                <a:spcPct val="115000"/>
              </a:lnSpc>
              <a:buClr>
                <a:schemeClr val="dk1"/>
              </a:buClr>
              <a:buSzPts val="1000"/>
              <a:buFont typeface="Roboto"/>
              <a:buChar char="●"/>
            </a:pPr>
            <a:r>
              <a:rPr lang="en-US" sz="1000" dirty="0"/>
              <a:t>support </a:t>
            </a:r>
            <a:r>
              <a:rPr lang="en-US" sz="1000" dirty="0" err="1"/>
              <a:t>libpcap</a:t>
            </a:r>
            <a:r>
              <a:rPr lang="en-US" sz="1000" dirty="0"/>
              <a:t>-style capture filters</a:t>
            </a:r>
            <a:endParaRPr sz="1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5304106" y="1149752"/>
            <a:ext cx="2471882" cy="271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  <a:sym typeface="Roboto"/>
              </a:rPr>
              <a:t>CLI Based Interface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</a:rPr>
              <a:t>primarily filters using capture expressions at capture/print time</a:t>
            </a: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  <a:p>
            <a:pPr marL="457200" lvl="0" indent="-298450">
              <a:lnSpc>
                <a:spcPct val="115000"/>
              </a:lnSpc>
              <a:buClr>
                <a:schemeClr val="dk1"/>
              </a:buClr>
              <a:buSzPts val="1100"/>
              <a:buChar char="●"/>
            </a:pPr>
            <a:r>
              <a:rPr lang="en-US" sz="1100" dirty="0" err="1">
                <a:latin typeface="Roboto" panose="02000000000000000000" pitchFamily="2" charset="0"/>
                <a:ea typeface="Roboto" panose="02000000000000000000" pitchFamily="2" charset="0"/>
              </a:rPr>
              <a:t>tcpdump</a:t>
            </a:r>
            <a:r>
              <a:rPr lang="en-US" sz="1100" dirty="0">
                <a:latin typeface="Roboto" panose="02000000000000000000" pitchFamily="2" charset="0"/>
                <a:ea typeface="Roboto" panose="02000000000000000000" pitchFamily="2" charset="0"/>
              </a:rPr>
              <a:t> focuses on header-level summaries</a:t>
            </a:r>
            <a:endParaRPr lang="en-US" sz="1100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On-screen Show (16:9)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Roboto</vt:lpstr>
      <vt:lpstr>Arial</vt:lpstr>
      <vt:lpstr>Google Sans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David Alexandru Balog</cp:lastModifiedBy>
  <cp:revision>2</cp:revision>
  <dcterms:modified xsi:type="dcterms:W3CDTF">2026-02-26T23:16:11Z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2026-02-26T23:15:34Z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b14aa65e-933e-4a62-828a-0323ec60a181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